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7" r:id="rId2"/>
    <p:sldId id="258" r:id="rId3"/>
    <p:sldId id="281" r:id="rId4"/>
    <p:sldId id="282" r:id="rId5"/>
    <p:sldId id="283" r:id="rId6"/>
    <p:sldId id="269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4" r:id="rId17"/>
    <p:sldId id="265" r:id="rId18"/>
    <p:sldId id="295" r:id="rId19"/>
    <p:sldId id="296" r:id="rId20"/>
    <p:sldId id="267" r:id="rId21"/>
  </p:sldIdLst>
  <p:sldSz cx="12192000" cy="6858000"/>
  <p:notesSz cx="6858000" cy="9144000"/>
  <p:embeddedFontLst>
    <p:embeddedFont>
      <p:font typeface="Jos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3" autoAdjust="0"/>
    <p:restoredTop sz="94660"/>
  </p:normalViewPr>
  <p:slideViewPr>
    <p:cSldViewPr snapToGrid="0">
      <p:cViewPr varScale="1">
        <p:scale>
          <a:sx n="90" d="100"/>
          <a:sy n="90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752573-5B0F-4812-7B07-18B3B922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CAB259E-AD4C-BA87-E849-D9071DD24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2FE72CF-CB9C-E904-9EA3-3E38D6417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1149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697824D-7111-DB45-FA94-5062F41D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9318F10-998A-69A2-8D34-C58467C4D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339FA18B-7E89-0F10-9F7E-D97563F5B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583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901EAF8-D8D9-376F-7BAC-6FB8906F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:notes">
            <a:extLst>
              <a:ext uri="{FF2B5EF4-FFF2-40B4-BE49-F238E27FC236}">
                <a16:creationId xmlns:a16="http://schemas.microsoft.com/office/drawing/2014/main" id="{E260B831-46ED-C90E-2BCD-48555CF34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2:notes">
            <a:extLst>
              <a:ext uri="{FF2B5EF4-FFF2-40B4-BE49-F238E27FC236}">
                <a16:creationId xmlns:a16="http://schemas.microsoft.com/office/drawing/2014/main" id="{7EF8A0A7-697C-B649-2C29-97CF128F7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56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A191069-D799-D05B-63BE-37D99D71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F658B3B2-24CD-BDFF-EA72-6B728EED0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663529-8B1E-A75B-956F-BE685DFFF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8764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6746D86-2C0D-2112-C14E-4D23F2A6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>
            <a:extLst>
              <a:ext uri="{FF2B5EF4-FFF2-40B4-BE49-F238E27FC236}">
                <a16:creationId xmlns:a16="http://schemas.microsoft.com/office/drawing/2014/main" id="{67268977-D34F-C93E-D893-176150C91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1:notes">
            <a:extLst>
              <a:ext uri="{FF2B5EF4-FFF2-40B4-BE49-F238E27FC236}">
                <a16:creationId xmlns:a16="http://schemas.microsoft.com/office/drawing/2014/main" id="{3EDE2073-0CC3-CB2D-2EEF-5A13672DB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530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106684E-C794-7931-2C64-9FD409A4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172F1FFE-47F9-FD21-EC74-D7DF0852D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89F231A-28BF-FC40-5EE4-224115D31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58343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075D9A2-78F0-F9A0-9F1B-53439394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61F004AA-3DA7-331A-030C-1D55BF762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97BD6576-A9A0-307E-7441-1F0CC3F3E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18828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809068C-FE2C-D197-5A50-0158806B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791B6F3-4506-9CDF-8E54-AE66158A6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73169654-8E47-D4EC-1DF1-02AD3984F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99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66825BB-82DC-2E06-E3D2-9E8A11A9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95D562C6-7EB0-0A6F-8616-54B9B27E9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DF2D7B44-9607-0C0C-35C9-30A6BC594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707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84AA712-0980-1D19-BF0B-65CD3138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B4ADFE2-6E4E-EC05-C8C8-3A40E1A1F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E857EB7-6480-0B03-648B-AD0D4B207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71866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F1296EC-D26C-5A8C-FE16-BC99F3ED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>
            <a:extLst>
              <a:ext uri="{FF2B5EF4-FFF2-40B4-BE49-F238E27FC236}">
                <a16:creationId xmlns:a16="http://schemas.microsoft.com/office/drawing/2014/main" id="{D2010ADE-345D-C397-5685-DC1019D85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1:notes">
            <a:extLst>
              <a:ext uri="{FF2B5EF4-FFF2-40B4-BE49-F238E27FC236}">
                <a16:creationId xmlns:a16="http://schemas.microsoft.com/office/drawing/2014/main" id="{79CAE0E6-24B9-67C9-F1AE-C9C80EE47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732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9EAA890-F360-0D08-FEFF-C927F143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1568C8E8-C555-0DF9-5169-D2315297B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EDF61FC5-EDBD-8CF4-2A71-F29E4B143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01284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CAE01D1-E924-04B1-7ECD-1AF60A40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B089247D-CB4D-CD53-1CA3-F00503A78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83818909-8446-979A-46F6-B1ABEE2B3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136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llama.com/download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 3</a:t>
            </a: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endParaRPr lang="ro-RO" sz="5400" b="1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LUCRUL CU API-URI </a:t>
            </a: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ȘI ASYNC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Ce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Agent AI?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Arhitectura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unei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bazate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agenți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Conversation Context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System Prompts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Tool Calling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Model Context Protocol (MCP)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LangGraph</a:t>
            </a:r>
          </a:p>
          <a:p>
            <a:pPr marL="114300" lvl="0">
              <a:lnSpc>
                <a:spcPct val="150000"/>
              </a:lnSpc>
              <a:buClr>
                <a:schemeClr val="lt1"/>
              </a:buClr>
              <a:buSzPts val="1800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● Hands-on: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Construirea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Agent AI local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Ollamaa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un Agent AI?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D24CCE9F-B051-40D8-9F68-AC8742B255D1}"/>
              </a:ext>
            </a:extLst>
          </p:cNvPr>
          <p:cNvSpPr txBox="1"/>
          <p:nvPr/>
        </p:nvSpPr>
        <p:spPr>
          <a:xfrm>
            <a:off x="1036533" y="1644576"/>
            <a:ext cx="8508600" cy="3647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 Agent AI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care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folosește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model de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limbaj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rezolva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sarcini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interacționa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componente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software.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Spre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deosebire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un chatbot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simplu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un agent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păstra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contextul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tool-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externe;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lua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decizii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executa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acțiuni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 agent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decât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model. Este un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sistem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construit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jurul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FE0A430-F1E9-510D-7CBA-CF4F5852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F54B7E87-CB32-2583-F028-FC9C9D94E58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6A68A60A-67C9-4537-5FA0-032BC2E1FB7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LLM vs Agent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81AAD8-E090-02A3-D42F-48CCDDF01AC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440EED71-957B-7F62-CF8E-DA5588BF4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D660BF-4EC5-BBA0-2256-985B04649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152" y="912188"/>
            <a:ext cx="7269695" cy="484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DEED708-ECA4-BFB3-FB8C-F967706F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5B680B-D2E8-E0C6-6896-08C46C07D9E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D09F9685-6EA6-2E13-F752-9B2C2D583FFA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Conversation Context, System Prompts &amp; Tool Calling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FFBE73C-3CAC-0FF7-8D75-428560B6D04D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6B6A5FC6-28E9-6A10-39BC-E8559E1376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D9542059-3EE9-B0B5-F6F4-DFD18CF237A2}"/>
              </a:ext>
            </a:extLst>
          </p:cNvPr>
          <p:cNvSpPr txBox="1"/>
          <p:nvPr/>
        </p:nvSpPr>
        <p:spPr>
          <a:xfrm>
            <a:off x="949957" y="1144039"/>
            <a:ext cx="3968032" cy="5539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Conversation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Context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istoricul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oferă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memorie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trimis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la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System Prompt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definește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personalitatea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stabilește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reguli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restricții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influențează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răspunsurile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2B6414-BBFB-1935-C257-49DD749117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5" t="32432" r="25" b="27748"/>
          <a:stretch>
            <a:fillRect/>
          </a:stretch>
        </p:blipFill>
        <p:spPr>
          <a:xfrm>
            <a:off x="4476810" y="1553788"/>
            <a:ext cx="7554644" cy="20054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5600D6-C606-4947-AB90-6CA688CD1F98}"/>
              </a:ext>
            </a:extLst>
          </p:cNvPr>
          <p:cNvSpPr txBox="1"/>
          <p:nvPr/>
        </p:nvSpPr>
        <p:spPr>
          <a:xfrm>
            <a:off x="6691272" y="1200683"/>
            <a:ext cx="31257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ro-RO" sz="20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Tool Calling</a:t>
            </a:r>
            <a:endParaRPr lang="it-IT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034325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9CB8CB21-9BB9-8B5F-E224-BFC6C57F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>
            <a:extLst>
              <a:ext uri="{FF2B5EF4-FFF2-40B4-BE49-F238E27FC236}">
                <a16:creationId xmlns:a16="http://schemas.microsoft.com/office/drawing/2014/main" id="{14E74FDC-79AA-C1EB-261C-FC8B453FE21E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>
            <a:extLst>
              <a:ext uri="{FF2B5EF4-FFF2-40B4-BE49-F238E27FC236}">
                <a16:creationId xmlns:a16="http://schemas.microsoft.com/office/drawing/2014/main" id="{BB303F52-8BCE-4F32-A155-1749E241BD32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Specification Driven Development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7" name="Google Shape;147;p20">
            <a:extLst>
              <a:ext uri="{FF2B5EF4-FFF2-40B4-BE49-F238E27FC236}">
                <a16:creationId xmlns:a16="http://schemas.microsoft.com/office/drawing/2014/main" id="{8F8C5CAC-BE62-A3EC-2571-AE8673DE3C10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0" descr="Logo&#10;&#10;Description automatically generated">
            <a:extLst>
              <a:ext uri="{FF2B5EF4-FFF2-40B4-BE49-F238E27FC236}">
                <a16:creationId xmlns:a16="http://schemas.microsoft.com/office/drawing/2014/main" id="{C908C2CE-A521-7681-5778-F34D12B303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C81B4BDF-AC5E-8A50-A7D3-8602A581EAD9}"/>
              </a:ext>
            </a:extLst>
          </p:cNvPr>
          <p:cNvSpPr txBox="1"/>
          <p:nvPr/>
        </p:nvSpPr>
        <p:spPr>
          <a:xfrm>
            <a:off x="1029827" y="4129171"/>
            <a:ext cx="8508600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Avantaje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cod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mai </a:t>
            </a: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clar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extensibilitate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testare mai </a:t>
            </a:r>
            <a:r>
              <a:rPr lang="it-IT" sz="24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simplă</a:t>
            </a:r>
            <a:r>
              <a:rPr lang="it-IT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dirty="0"/>
          </a:p>
        </p:txBody>
      </p:sp>
      <p:sp>
        <p:nvSpPr>
          <p:cNvPr id="8" name="Google Shape;149;p20">
            <a:extLst>
              <a:ext uri="{FF2B5EF4-FFF2-40B4-BE49-F238E27FC236}">
                <a16:creationId xmlns:a16="http://schemas.microsoft.com/office/drawing/2014/main" id="{33617FC1-9CC6-B829-A4CC-20B2185D69E4}"/>
              </a:ext>
            </a:extLst>
          </p:cNvPr>
          <p:cNvSpPr txBox="1"/>
          <p:nvPr/>
        </p:nvSpPr>
        <p:spPr>
          <a:xfrm>
            <a:off x="1029827" y="1089538"/>
            <a:ext cx="10496515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Înainte de implementare definim: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responsabilitățile;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interfețele;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contractele;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fluxurile aplicației.</a:t>
            </a:r>
          </a:p>
        </p:txBody>
      </p:sp>
    </p:spTree>
    <p:extLst>
      <p:ext uri="{BB962C8B-B14F-4D97-AF65-F5344CB8AC3E}">
        <p14:creationId xmlns:p14="http://schemas.microsoft.com/office/powerpoint/2010/main" val="126817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8CF920-B5E2-18D2-48AD-E668D9A4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127DE371-2E04-2752-F845-01733474602C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D108C394-99C7-BA18-2257-25FC7EB2BB4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Framework Architecture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98DAE8-0A84-682E-46D1-0B642CBF7383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E7E6D685-8729-EE86-0E00-6F4B68F210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952955DB-D511-7EC9-0245-A1FFF221C4EF}"/>
              </a:ext>
            </a:extLst>
          </p:cNvPr>
          <p:cNvSpPr txBox="1"/>
          <p:nvPr/>
        </p:nvSpPr>
        <p:spPr>
          <a:xfrm>
            <a:off x="1036533" y="921827"/>
            <a:ext cx="85086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Separăm aplicația în componente independente.</a:t>
            </a:r>
          </a:p>
          <a:p>
            <a:pPr lvl="0">
              <a:lnSpc>
                <a:spcPct val="150000"/>
              </a:lnSpc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Avantaje: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cod mai organizat;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mentenanță mai ușoară;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reutilizare mai bună.</a:t>
            </a: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4E3D518D-11C5-0A64-6D72-4DCBBC5B72D4}"/>
              </a:ext>
            </a:extLst>
          </p:cNvPr>
          <p:cNvSpPr txBox="1"/>
          <p:nvPr/>
        </p:nvSpPr>
        <p:spPr>
          <a:xfrm>
            <a:off x="1036533" y="3906737"/>
            <a:ext cx="8508600" cy="2262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Caracteristicile unui cod înainte de review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Correctness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Robustness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Scalability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Clarity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420101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6A2C171-1770-D387-6EDA-D3BD2EE9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A3EEEE4A-CCFB-3231-1765-F8DE2164CFDD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C2260300-E48A-5F82-2836-8538F6589C9E}"/>
              </a:ext>
            </a:extLst>
          </p:cNvPr>
          <p:cNvSpPr/>
          <p:nvPr/>
        </p:nvSpPr>
        <p:spPr>
          <a:xfrm>
            <a:off x="8270613" y="3902683"/>
            <a:ext cx="3478695" cy="15777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31EABA78-7DEB-D9F4-40E7-1F5BCE35DFD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MCP?</a:t>
            </a:r>
            <a:endParaRPr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5949CFAF-1255-B0D3-9534-70EAB7AC4F6E}"/>
              </a:ext>
            </a:extLst>
          </p:cNvPr>
          <p:cNvSpPr txBox="1"/>
          <p:nvPr/>
        </p:nvSpPr>
        <p:spPr>
          <a:xfrm>
            <a:off x="9545129" y="6567997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Logo&#10;&#10;Description automatically generated">
            <a:extLst>
              <a:ext uri="{FF2B5EF4-FFF2-40B4-BE49-F238E27FC236}">
                <a16:creationId xmlns:a16="http://schemas.microsoft.com/office/drawing/2014/main" id="{8D3AD062-C50A-6189-AC7C-F6AC7EFD4F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48" y="6532386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BBD7F27-97AD-2B3B-F29B-4B5475BEE95B}"/>
              </a:ext>
            </a:extLst>
          </p:cNvPr>
          <p:cNvSpPr txBox="1"/>
          <p:nvPr/>
        </p:nvSpPr>
        <p:spPr>
          <a:xfrm>
            <a:off x="926731" y="1073439"/>
            <a:ext cx="10338538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MCP (Model Context Protocol) este un standard pentru integrarea tool-urilor cu modele AI.</a:t>
            </a: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268EF3-5564-8E84-6299-CC4FF4335D47}"/>
              </a:ext>
            </a:extLst>
          </p:cNvPr>
          <p:cNvSpPr txBox="1"/>
          <p:nvPr/>
        </p:nvSpPr>
        <p:spPr>
          <a:xfrm>
            <a:off x="926731" y="2001209"/>
            <a:ext cx="10582782" cy="3285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Permite: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descrierea tool-urilor;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descoperirea tool-urilor;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apelarea tool-urilor;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schimbul standardizat de informații.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MCP standardizează modul în care agenții comunică cu tool-urile.</a:t>
            </a:r>
          </a:p>
        </p:txBody>
      </p:sp>
    </p:spTree>
    <p:extLst>
      <p:ext uri="{BB962C8B-B14F-4D97-AF65-F5344CB8AC3E}">
        <p14:creationId xmlns:p14="http://schemas.microsoft.com/office/powerpoint/2010/main" val="3591449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D7CA328-FE33-37F8-C1AC-300C035D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26F94732-8A65-34FF-E14C-051CDC80B1C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2E238C66-A502-73AE-74D9-673FB83D7004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</a:t>
            </a:r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LangGraph?</a:t>
            </a: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5A32FC7-4542-88BF-8341-DC9D4F7C95C2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8E3F40FA-16C8-6C08-B225-CD26672CB7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446A4CFE-2BAA-D3CA-2718-107D8F44E05F}"/>
              </a:ext>
            </a:extLst>
          </p:cNvPr>
          <p:cNvSpPr txBox="1"/>
          <p:nvPr/>
        </p:nvSpPr>
        <p:spPr>
          <a:xfrm>
            <a:off x="1036533" y="1644576"/>
            <a:ext cx="8508600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LangGraph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framework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construirea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agenților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AI.</a:t>
            </a:r>
          </a:p>
          <a:p>
            <a:pPr lvl="0">
              <a:lnSpc>
                <a:spcPct val="150000"/>
              </a:lnSpc>
            </a:pP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Modelează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fluxul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ca un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graf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Concepte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importante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Node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Edge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State</a:t>
            </a: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160457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7F3E346-32B2-C54E-0BA3-C89A8CF3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2E6EFDDB-2770-B0D4-E72D-B8857587AAE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97FB3EDD-3ADA-E027-5F8C-8733656E91F0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programarea asincronă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436893BC-EC19-C86A-6AEB-36710CCF6B7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CB886C64-99F1-5C5E-1B08-F6605EE2E4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AD9D7C82-3FD9-905E-B39F-5591F5618D63}"/>
              </a:ext>
            </a:extLst>
          </p:cNvPr>
          <p:cNvSpPr txBox="1"/>
          <p:nvPr/>
        </p:nvSpPr>
        <p:spPr>
          <a:xfrm>
            <a:off x="1036533" y="1644576"/>
            <a:ext cx="8508600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permite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inițierea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fără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aștepta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finalizarea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fiecăreia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înainte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a continua.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loc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blocăm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execuția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b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 -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Wait -&gt; Request -&gt; Wait -&gt; Request -&gt; Wait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Putem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continua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opera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ții cât timp așteptăm răspunsurile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79774352-6CEF-2E09-2BB0-2212BD3D575C}"/>
              </a:ext>
            </a:extLst>
          </p:cNvPr>
          <p:cNvSpPr txBox="1"/>
          <p:nvPr/>
        </p:nvSpPr>
        <p:spPr>
          <a:xfrm>
            <a:off x="1036533" y="3906737"/>
            <a:ext cx="85086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Beneficiu principal: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Utilizarea mai eficientă a timpului de așteptare.</a:t>
            </a: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394979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4F1B-8115-A37B-44AF-ECF504E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172E473A-28A1-5B7F-C690-1E45410A45D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C26AF3B6-951F-1F8F-DFE0-E2DB07C5366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0C935DA-BD7A-4A62-BFC9-46188B6FFAD2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2F3CB303-1EDD-87A9-4894-3B6F0946A4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BBFE7724-A77F-59BC-69AB-F0752CCFF70D}"/>
              </a:ext>
            </a:extLst>
          </p:cNvPr>
          <p:cNvSpPr txBox="1"/>
          <p:nvPr/>
        </p:nvSpPr>
        <p:spPr>
          <a:xfrm>
            <a:off x="1036454" y="1400307"/>
            <a:ext cx="8508600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framework-ul standard din Python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programare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Concepte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importante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event loop;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coroutines;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await;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ask-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concurente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nu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înseamnă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multi-threading;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multi-processing;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CPU-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optim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tip I/O.</a:t>
            </a:r>
          </a:p>
        </p:txBody>
      </p:sp>
    </p:spTree>
    <p:extLst>
      <p:ext uri="{BB962C8B-B14F-4D97-AF65-F5344CB8AC3E}">
        <p14:creationId xmlns:p14="http://schemas.microsoft.com/office/powerpoint/2010/main" val="2050399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05F9E38-0B6B-BA39-E201-395F07A4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8BAF319B-BBA8-3935-D96F-0B469B3B6139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3CE2D996-DABB-E040-2778-EAB50F232716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Async și Await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1DCF66A4-0FE9-8C20-D162-6D27ACB669F9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46FF1D5-A5CE-165A-7FAB-5F8ED576EE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5EC058DE-AC30-F0ED-F0B1-029DE1C9FA2F}"/>
              </a:ext>
            </a:extLst>
          </p:cNvPr>
          <p:cNvSpPr txBox="1"/>
          <p:nvPr/>
        </p:nvSpPr>
        <p:spPr>
          <a:xfrm>
            <a:off x="1036454" y="1400307"/>
            <a:ext cx="85086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Două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cuvinte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cheie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stau la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baza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programării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asincrone.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" name="Picture 4" descr="A black rectangle with yellow and blue text&#10;&#10;AI-generated content may be incorrect.">
            <a:extLst>
              <a:ext uri="{FF2B5EF4-FFF2-40B4-BE49-F238E27FC236}">
                <a16:creationId xmlns:a16="http://schemas.microsoft.com/office/drawing/2014/main" id="{FE23D092-D06A-B2B7-C5C8-14900362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174" b="32145"/>
          <a:stretch>
            <a:fillRect/>
          </a:stretch>
        </p:blipFill>
        <p:spPr>
          <a:xfrm>
            <a:off x="595637" y="1856359"/>
            <a:ext cx="3257272" cy="585000"/>
          </a:xfrm>
          <a:prstGeom prst="rect">
            <a:avLst/>
          </a:prstGeom>
        </p:spPr>
      </p:pic>
      <p:sp>
        <p:nvSpPr>
          <p:cNvPr id="6" name="Google Shape;159;p21">
            <a:extLst>
              <a:ext uri="{FF2B5EF4-FFF2-40B4-BE49-F238E27FC236}">
                <a16:creationId xmlns:a16="http://schemas.microsoft.com/office/drawing/2014/main" id="{5E94745D-91D8-132C-7771-3F0D7966061E}"/>
              </a:ext>
            </a:extLst>
          </p:cNvPr>
          <p:cNvSpPr txBox="1"/>
          <p:nvPr/>
        </p:nvSpPr>
        <p:spPr>
          <a:xfrm>
            <a:off x="1036454" y="2552207"/>
            <a:ext cx="85086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Definește o funcție asincronă</a:t>
            </a:r>
          </a:p>
        </p:txBody>
      </p:sp>
      <p:pic>
        <p:nvPicPr>
          <p:cNvPr id="8" name="Picture 7" descr="A black rectangle with yellow and blue text&#10;&#10;AI-generated content may be incorrect.">
            <a:extLst>
              <a:ext uri="{FF2B5EF4-FFF2-40B4-BE49-F238E27FC236}">
                <a16:creationId xmlns:a16="http://schemas.microsoft.com/office/drawing/2014/main" id="{34FDD149-7BFD-4DAC-7831-6C2672BBD4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874" b="30849"/>
          <a:stretch>
            <a:fillRect/>
          </a:stretch>
        </p:blipFill>
        <p:spPr>
          <a:xfrm>
            <a:off x="595637" y="3018893"/>
            <a:ext cx="3201880" cy="628797"/>
          </a:xfrm>
          <a:prstGeom prst="rect">
            <a:avLst/>
          </a:prstGeom>
        </p:spPr>
      </p:pic>
      <p:sp>
        <p:nvSpPr>
          <p:cNvPr id="10" name="Google Shape;159;p21">
            <a:extLst>
              <a:ext uri="{FF2B5EF4-FFF2-40B4-BE49-F238E27FC236}">
                <a16:creationId xmlns:a16="http://schemas.microsoft.com/office/drawing/2014/main" id="{5CA230CC-A71A-7E6D-2B81-5BF563D54B92}"/>
              </a:ext>
            </a:extLst>
          </p:cNvPr>
          <p:cNvSpPr txBox="1"/>
          <p:nvPr/>
        </p:nvSpPr>
        <p:spPr>
          <a:xfrm>
            <a:off x="1036454" y="3809766"/>
            <a:ext cx="85086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suspendă execuția până la finalizarea operației curente.</a:t>
            </a: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 definește o operație asincronă, iar await așteaptă rezultatul ei.</a:t>
            </a:r>
          </a:p>
        </p:txBody>
      </p:sp>
    </p:spTree>
    <p:extLst>
      <p:ext uri="{BB962C8B-B14F-4D97-AF65-F5344CB8AC3E}">
        <p14:creationId xmlns:p14="http://schemas.microsoft.com/office/powerpoint/2010/main" val="3909556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271DC3FA-394C-45E7-115E-661787D2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31A1CECB-BDAA-3D06-EAE9-4ADF5F90B202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A366EAC9-77C3-5A37-0A50-9E817B18335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Requests vs HTTPX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974294A-124A-E6D7-A629-42675F9FECF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5E751C56-4F35-C18F-3F8A-B36BF6D04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CCBE9FAF-B5A2-4963-505F-19E7E8170763}"/>
              </a:ext>
            </a:extLst>
          </p:cNvPr>
          <p:cNvSpPr txBox="1"/>
          <p:nvPr/>
        </p:nvSpPr>
        <p:spPr>
          <a:xfrm>
            <a:off x="1036454" y="1400307"/>
            <a:ext cx="85086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simplu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foarte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popular;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HTTPX: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API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asemănător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Requests;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suport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integrare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excelentă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 →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simple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HTTPX →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asincrone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706158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1F1B83C-49A0-D364-13B2-991FC530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A6C48A05-428A-138A-D298-259615FF10D6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67F4D129-012B-0810-13FE-C973816D9D9F}"/>
              </a:ext>
            </a:extLst>
          </p:cNvPr>
          <p:cNvSpPr/>
          <p:nvPr/>
        </p:nvSpPr>
        <p:spPr>
          <a:xfrm>
            <a:off x="8270613" y="3902683"/>
            <a:ext cx="3478695" cy="15777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611A27E9-7B9E-792D-5C92-9AA7E455FC6E}"/>
              </a:ext>
            </a:extLst>
          </p:cNvPr>
          <p:cNvSpPr txBox="1"/>
          <p:nvPr/>
        </p:nvSpPr>
        <p:spPr>
          <a:xfrm>
            <a:off x="0" y="327188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sym typeface="Jost"/>
              </a:rPr>
              <a:t>Concurență cu Async</a:t>
            </a:r>
            <a:endParaRPr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88A02EB6-7497-84A8-48EC-01EF5E773067}"/>
              </a:ext>
            </a:extLst>
          </p:cNvPr>
          <p:cNvSpPr txBox="1"/>
          <p:nvPr/>
        </p:nvSpPr>
        <p:spPr>
          <a:xfrm>
            <a:off x="9545129" y="6567997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Logo&#10;&#10;Description automatically generated">
            <a:extLst>
              <a:ext uri="{FF2B5EF4-FFF2-40B4-BE49-F238E27FC236}">
                <a16:creationId xmlns:a16="http://schemas.microsoft.com/office/drawing/2014/main" id="{DB5784C9-1CC9-ACA3-20B1-40B056609A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48" y="6532386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1AF300-34FD-23C2-74DD-218918A46F0A}"/>
              </a:ext>
            </a:extLst>
          </p:cNvPr>
          <p:cNvSpPr/>
          <p:nvPr/>
        </p:nvSpPr>
        <p:spPr>
          <a:xfrm>
            <a:off x="3049480" y="2346874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2</a:t>
            </a:r>
            <a:endParaRPr lang="en-US" b="1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B8F5037-67E9-E924-AABF-C98FDE2167D8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642306" y="2562317"/>
            <a:ext cx="1453694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159580-24FE-0929-8752-952BCD5101FA}"/>
              </a:ext>
            </a:extLst>
          </p:cNvPr>
          <p:cNvSpPr txBox="1"/>
          <p:nvPr/>
        </p:nvSpPr>
        <p:spPr>
          <a:xfrm>
            <a:off x="926731" y="1073439"/>
            <a:ext cx="81278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multe apeluri pot fi executate simultan folosind mecanismele oferite de AsyncIO.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994294-618C-9868-D715-97900FC5061E}"/>
              </a:ext>
            </a:extLst>
          </p:cNvPr>
          <p:cNvSpPr txBox="1"/>
          <p:nvPr/>
        </p:nvSpPr>
        <p:spPr>
          <a:xfrm>
            <a:off x="1037144" y="3876346"/>
            <a:ext cx="1058278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Rezultatele sunt colectate după finalizarea tuturor operațiilor.</a:t>
            </a: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Beneficii: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timp total mai mic;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throughput mai mare;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 eficientă a rețelei.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088385-64FA-4004-2AEC-34A2B155A3DA}"/>
              </a:ext>
            </a:extLst>
          </p:cNvPr>
          <p:cNvSpPr/>
          <p:nvPr/>
        </p:nvSpPr>
        <p:spPr>
          <a:xfrm>
            <a:off x="3049480" y="1665842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1</a:t>
            </a:r>
            <a:endParaRPr lang="en-US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FD0138-27E0-9AEC-0F7E-20A7180D1684}"/>
              </a:ext>
            </a:extLst>
          </p:cNvPr>
          <p:cNvSpPr/>
          <p:nvPr/>
        </p:nvSpPr>
        <p:spPr>
          <a:xfrm>
            <a:off x="3049480" y="3027721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3</a:t>
            </a:r>
            <a:endParaRPr lang="en-US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C9701E-625D-C856-124D-E9B5E9FEBCD3}"/>
              </a:ext>
            </a:extLst>
          </p:cNvPr>
          <p:cNvSpPr/>
          <p:nvPr/>
        </p:nvSpPr>
        <p:spPr>
          <a:xfrm>
            <a:off x="6096000" y="2251252"/>
            <a:ext cx="1592826" cy="6221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Running Together</a:t>
            </a:r>
            <a:endParaRPr lang="en-US" b="1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2C274CD9-1BEC-79FA-EAB5-BFC182C5D05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642306" y="1881286"/>
            <a:ext cx="1377740" cy="68103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4BB1428-FB5D-A494-DB76-E3995FD5011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4642306" y="2562317"/>
            <a:ext cx="1453694" cy="68084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44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9F31A85-5BC4-64D6-CFBF-738C6723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B048B996-0E4A-6AEF-48C7-9B80DCC8957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DDC6F88-5D74-5C45-5947-ABF109A788C1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286952EE-8396-B442-F022-FED9A25D93FC}"/>
              </a:ext>
            </a:extLst>
          </p:cNvPr>
          <p:cNvSpPr txBox="1"/>
          <p:nvPr/>
        </p:nvSpPr>
        <p:spPr>
          <a:xfrm>
            <a:off x="9456277" y="6026553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A67B7A4E-A8D1-1118-71D0-30607A7015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60534AD0-E965-9F0B-94B5-D4079D39F7C4}"/>
              </a:ext>
            </a:extLst>
          </p:cNvPr>
          <p:cNvSpPr txBox="1"/>
          <p:nvPr/>
        </p:nvSpPr>
        <p:spPr>
          <a:xfrm>
            <a:off x="947677" y="912188"/>
            <a:ext cx="4605225" cy="558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Instalare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Windows</a:t>
            </a:r>
          </a:p>
          <a:p>
            <a:pPr marL="342900" lvl="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ărcați installer-ul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  <a:hlinkClick r:id="rId4"/>
              </a:rPr>
              <a:t>https://ollama.com/download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lnSpc>
                <a:spcPct val="150000"/>
              </a:lnSpc>
              <a:buAutoNum type="arabicPeriod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Rula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 installer-ul și urmați pașii din wizard.</a:t>
            </a:r>
          </a:p>
          <a:p>
            <a:pPr lvl="0">
              <a:lnSpc>
                <a:spcPct val="150000"/>
              </a:lnSpc>
            </a:pPr>
            <a:endParaRPr lang="ro-RO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Linux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curl 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fsSL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https://ollama.com/install.sh |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sh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Verificare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instalare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–version</a:t>
            </a:r>
          </a:p>
          <a:p>
            <a:pPr lvl="0">
              <a:lnSpc>
                <a:spcPct val="150000"/>
              </a:lnSpc>
            </a:pPr>
            <a:b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Desc</a:t>
            </a: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ărcare model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pull qwen3:1.7b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Vizualizare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instalate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list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0FB46EB7-2DBF-DC50-1722-A86647EC5F1E}"/>
              </a:ext>
            </a:extLst>
          </p:cNvPr>
          <p:cNvSpPr txBox="1"/>
          <p:nvPr/>
        </p:nvSpPr>
        <p:spPr>
          <a:xfrm>
            <a:off x="5721953" y="912188"/>
            <a:ext cx="460522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Ștergere model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 rm qwen3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:1.7b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Pornire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server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porne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ște automat serviciul local. Endpoint implicit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http://localhost:11434</a:t>
            </a:r>
          </a:p>
          <a:p>
            <a:pPr lvl="0">
              <a:lnSpc>
                <a:spcPct val="150000"/>
              </a:lnSpc>
            </a:pPr>
            <a:b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Test API</a:t>
            </a:r>
            <a:endParaRPr lang="ro-RO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curl http://localhost:11434/api/generate -d "{\"model\":\"qwen3:1.7b\",\"prompt\":\"Say hello\",\"stream\":false}"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6369041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F3D2E28-7940-EB8D-5FFD-FD70258B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0911333-8092-5D37-B53C-3E28D4BE486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3639ACC7-A260-4ECF-4DF3-08481832C1FB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Recommended Models</a:t>
            </a:r>
            <a:endParaRPr lang="en-US"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BED0D31-6465-F68A-559E-AB815B287E2C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F185A9D-3D1E-CF48-E530-076AA3330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926246D-8D7B-C716-709C-C9EFA13C8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705322"/>
              </p:ext>
            </p:extLst>
          </p:nvPr>
        </p:nvGraphicFramePr>
        <p:xfrm>
          <a:off x="838200" y="2057089"/>
          <a:ext cx="10515600" cy="332232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361605929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21970165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0969077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160613356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618298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23757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Dimensiune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RAM recomandat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Viteză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Calitate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Recomandare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104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qwen3:0.6b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~0.5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4+ GB</a:t>
                      </a:r>
                    </a:p>
                  </a:txBody>
                  <a:tcPr marL="137160" marR="137160" marT="137160" marB="1371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Foarte 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Basic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Ideal pentru laborator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80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qwen3:1.7b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~1.4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8+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Recomandat pentru majoritatea participanților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258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qwen3:4b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~2.5-3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8-16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Foarte bun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Pentru laptopuri mai puternice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9751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qwen3:8b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~5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16+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Mai 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Nu este recomandat pentru workshop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900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llama3.2:3b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~2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8+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Alternativă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foarte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populară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192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66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Rularea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Model Local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2" y="1690080"/>
            <a:ext cx="10346575" cy="3477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a.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Instalați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Ollama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descărcați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model local de tip Qwen3.</a:t>
            </a:r>
          </a:p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Porniți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interactiv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inițiați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simplă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prompt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genera un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Testați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comportamentul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acestuia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cel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puțin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întrebări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diferite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ro-RO"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b. Configurați Ollama astfel încât modelul să poată fi accesat prin intermediul API-ului local expus pe mașina voastră.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 că endpoint-ul local răspunde corect la cereri și returnează răspunsuri generate de model.</a:t>
            </a:r>
          </a:p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trebuie să puteți confirma că modelul rulează local și poate fi accesat programatic dintr-o aplicație Python.</a:t>
            </a:r>
            <a:endParaRPr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2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– 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Primul Agent Conversațional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config.py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valorile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necesare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conectarea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local.</a:t>
            </a: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conțină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system prompt-ul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promptul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nu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hardcodate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restul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ro-RO"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b.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conversation_context.py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metodele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necesare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mesaj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system prompt-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istoricului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mesajele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păstrate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-o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listă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vor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transmise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ulterior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c.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Definiți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system prompt care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stabilește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comportamentul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rolul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Defini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ți personalitatea și tiparele modelului bazat pe atribuirile făcute în laborator.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prompt-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răspunsurile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reflectă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rolul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ales.</a:t>
            </a:r>
          </a:p>
          <a:p>
            <a:pPr lvl="0"/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 System prompt-ul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încărcat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singură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dată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la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inițializarea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unei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conversații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i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noi</a:t>
            </a:r>
            <a:r>
              <a:rPr lang="en-US" sz="1600" i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44937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 al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922712" y="1954649"/>
            <a:ext cx="10346575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Utilizând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scheletul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cod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implementarea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lucky_number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 din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tools/lucky_number_tool.py.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calculeze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norocos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pe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baza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datei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curente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datei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naștere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 argument, conform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regulii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descrise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comentariile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existente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implementarea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tools/tools.py,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importați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tool-ul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creat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înregistrați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lista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globală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tool-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finalul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exercițiului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porniți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verificați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tool-ul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atunci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când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utilizatorul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solicită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număr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norocos</a:t>
            </a:r>
            <a:r>
              <a:rPr lang="en-US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1177</Words>
  <Application>Microsoft Office PowerPoint</Application>
  <PresentationFormat>Widescreen</PresentationFormat>
  <Paragraphs>236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</vt:lpstr>
      <vt:lpstr>Jost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Stefan Mihai Filimon</cp:lastModifiedBy>
  <cp:revision>45</cp:revision>
  <dcterms:modified xsi:type="dcterms:W3CDTF">2026-07-14T12:35:47Z</dcterms:modified>
</cp:coreProperties>
</file>